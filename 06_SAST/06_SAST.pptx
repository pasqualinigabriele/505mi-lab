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grandir Wide Bold" charset="1" panose="00000805000000000000"/>
      <p:regular r:id="rId15"/>
    </p:embeddedFont>
    <p:embeddedFont>
      <p:font typeface="Nunito" charset="1" panose="00000000000000000000"/>
      <p:regular r:id="rId16"/>
    </p:embeddedFont>
    <p:embeddedFont>
      <p:font typeface="Nunito Bold"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https://github.com/PasqualiniGabriele/WebApplicationProgramming-Project"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4EDE2"/>
        </a:solidFill>
      </p:bgPr>
    </p:bg>
    <p:spTree>
      <p:nvGrpSpPr>
        <p:cNvPr id="1" name=""/>
        <p:cNvGrpSpPr/>
        <p:nvPr/>
      </p:nvGrpSpPr>
      <p:grpSpPr>
        <a:xfrm>
          <a:off x="0" y="0"/>
          <a:ext cx="0" cy="0"/>
          <a:chOff x="0" y="0"/>
          <a:chExt cx="0" cy="0"/>
        </a:xfrm>
      </p:grpSpPr>
      <p:grpSp>
        <p:nvGrpSpPr>
          <p:cNvPr name="Group 2" id="2"/>
          <p:cNvGrpSpPr/>
          <p:nvPr/>
        </p:nvGrpSpPr>
        <p:grpSpPr>
          <a:xfrm rot="0">
            <a:off x="17259300"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name="TextBox 4" id="4"/>
            <p:cNvSpPr txBox="true"/>
            <p:nvPr/>
          </p:nvSpPr>
          <p:spPr>
            <a:xfrm>
              <a:off x="0" y="-95250"/>
              <a:ext cx="812800" cy="2804583"/>
            </a:xfrm>
            <a:prstGeom prst="rect">
              <a:avLst/>
            </a:prstGeom>
          </p:spPr>
          <p:txBody>
            <a:bodyPr anchor="ctr" rtlCol="false" tIns="50800" lIns="50800" bIns="50800" rIns="50800"/>
            <a:lstStyle/>
            <a:p>
              <a:pPr algn="ctr">
                <a:lnSpc>
                  <a:spcPts val="3287"/>
                </a:lnSpc>
              </a:pPr>
            </a:p>
          </p:txBody>
        </p:sp>
      </p:grpSp>
      <p:sp>
        <p:nvSpPr>
          <p:cNvPr name="TextBox 5" id="5"/>
          <p:cNvSpPr txBox="true"/>
          <p:nvPr/>
        </p:nvSpPr>
        <p:spPr>
          <a:xfrm rot="0">
            <a:off x="1028700" y="4049972"/>
            <a:ext cx="10208996" cy="2430780"/>
          </a:xfrm>
          <a:prstGeom prst="rect">
            <a:avLst/>
          </a:prstGeom>
        </p:spPr>
        <p:txBody>
          <a:bodyPr anchor="t" rtlCol="false" tIns="0" lIns="0" bIns="0" rIns="0">
            <a:spAutoFit/>
          </a:bodyPr>
          <a:lstStyle/>
          <a:p>
            <a:pPr algn="l">
              <a:lnSpc>
                <a:spcPts val="15960"/>
              </a:lnSpc>
            </a:pPr>
            <a:r>
              <a:rPr lang="en-US" sz="14000" b="true">
                <a:solidFill>
                  <a:srgbClr val="303870"/>
                </a:solidFill>
                <a:latin typeface="Agrandir Wide Bold"/>
                <a:ea typeface="Agrandir Wide Bold"/>
                <a:cs typeface="Agrandir Wide Bold"/>
                <a:sym typeface="Agrandir Wide Bold"/>
              </a:rPr>
              <a:t>06_SAST</a:t>
            </a:r>
          </a:p>
        </p:txBody>
      </p:sp>
      <p:sp>
        <p:nvSpPr>
          <p:cNvPr name="TextBox 6" id="6"/>
          <p:cNvSpPr txBox="true"/>
          <p:nvPr/>
        </p:nvSpPr>
        <p:spPr>
          <a:xfrm rot="0">
            <a:off x="1028700" y="962025"/>
            <a:ext cx="2948357" cy="555879"/>
          </a:xfrm>
          <a:prstGeom prst="rect">
            <a:avLst/>
          </a:prstGeom>
        </p:spPr>
        <p:txBody>
          <a:bodyPr anchor="t" rtlCol="false" tIns="0" lIns="0" bIns="0" rIns="0">
            <a:spAutoFit/>
          </a:bodyPr>
          <a:lstStyle/>
          <a:p>
            <a:pPr algn="l">
              <a:lnSpc>
                <a:spcPts val="4536"/>
              </a:lnSpc>
            </a:pPr>
            <a:r>
              <a:rPr lang="en-US" sz="3240">
                <a:solidFill>
                  <a:srgbClr val="303870"/>
                </a:solidFill>
                <a:latin typeface="Nunito"/>
                <a:ea typeface="Nunito"/>
                <a:cs typeface="Nunito"/>
                <a:sym typeface="Nunito"/>
              </a:rPr>
              <a:t>July 2026</a:t>
            </a:r>
          </a:p>
        </p:txBody>
      </p:sp>
      <p:sp>
        <p:nvSpPr>
          <p:cNvPr name="TextBox 7" id="7"/>
          <p:cNvSpPr txBox="true"/>
          <p:nvPr/>
        </p:nvSpPr>
        <p:spPr>
          <a:xfrm rot="0">
            <a:off x="1028700" y="8699209"/>
            <a:ext cx="6680614" cy="559091"/>
          </a:xfrm>
          <a:prstGeom prst="rect">
            <a:avLst/>
          </a:prstGeom>
        </p:spPr>
        <p:txBody>
          <a:bodyPr anchor="t" rtlCol="false" tIns="0" lIns="0" bIns="0" rIns="0">
            <a:spAutoFit/>
          </a:bodyPr>
          <a:lstStyle/>
          <a:p>
            <a:pPr algn="l">
              <a:lnSpc>
                <a:spcPts val="4540"/>
              </a:lnSpc>
            </a:pPr>
            <a:r>
              <a:rPr lang="en-US" sz="3243">
                <a:solidFill>
                  <a:srgbClr val="303870"/>
                </a:solidFill>
                <a:latin typeface="Nunito"/>
                <a:ea typeface="Nunito"/>
                <a:cs typeface="Nunito"/>
                <a:sym typeface="Nunito"/>
              </a:rPr>
              <a:t>Presented by Gabriele Pasqualini</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EDE2"/>
        </a:solidFill>
      </p:bgPr>
    </p:bg>
    <p:spTree>
      <p:nvGrpSpPr>
        <p:cNvPr id="1" name=""/>
        <p:cNvGrpSpPr/>
        <p:nvPr/>
      </p:nvGrpSpPr>
      <p:grpSpPr>
        <a:xfrm>
          <a:off x="0" y="0"/>
          <a:ext cx="0" cy="0"/>
          <a:chOff x="0" y="0"/>
          <a:chExt cx="0" cy="0"/>
        </a:xfrm>
      </p:grpSpPr>
      <p:grpSp>
        <p:nvGrpSpPr>
          <p:cNvPr name="Group 2" id="2"/>
          <p:cNvGrpSpPr/>
          <p:nvPr/>
        </p:nvGrpSpPr>
        <p:grpSpPr>
          <a:xfrm rot="0">
            <a:off x="17259300"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name="TextBox 4" id="4"/>
            <p:cNvSpPr txBox="true"/>
            <p:nvPr/>
          </p:nvSpPr>
          <p:spPr>
            <a:xfrm>
              <a:off x="0" y="-95250"/>
              <a:ext cx="812800" cy="2804583"/>
            </a:xfrm>
            <a:prstGeom prst="rect">
              <a:avLst/>
            </a:prstGeom>
          </p:spPr>
          <p:txBody>
            <a:bodyPr anchor="ctr" rtlCol="false" tIns="50800" lIns="50800" bIns="50800" rIns="50800"/>
            <a:lstStyle/>
            <a:p>
              <a:pPr algn="ctr">
                <a:lnSpc>
                  <a:spcPts val="3287"/>
                </a:lnSpc>
              </a:pPr>
            </a:p>
          </p:txBody>
        </p:sp>
      </p:grpSp>
      <p:sp>
        <p:nvSpPr>
          <p:cNvPr name="TextBox 5" id="5"/>
          <p:cNvSpPr txBox="true"/>
          <p:nvPr/>
        </p:nvSpPr>
        <p:spPr>
          <a:xfrm rot="0">
            <a:off x="3724666" y="260518"/>
            <a:ext cx="9809969" cy="1364913"/>
          </a:xfrm>
          <a:prstGeom prst="rect">
            <a:avLst/>
          </a:prstGeom>
        </p:spPr>
        <p:txBody>
          <a:bodyPr anchor="t" rtlCol="false" tIns="0" lIns="0" bIns="0" rIns="0">
            <a:spAutoFit/>
          </a:bodyPr>
          <a:lstStyle/>
          <a:p>
            <a:pPr algn="ctr">
              <a:lnSpc>
                <a:spcPts val="8974"/>
              </a:lnSpc>
            </a:pPr>
            <a:r>
              <a:rPr lang="en-US" b="true" sz="7872">
                <a:solidFill>
                  <a:srgbClr val="303870"/>
                </a:solidFill>
                <a:latin typeface="Agrandir Wide Bold"/>
                <a:ea typeface="Agrandir Wide Bold"/>
                <a:cs typeface="Agrandir Wide Bold"/>
                <a:sym typeface="Agrandir Wide Bold"/>
              </a:rPr>
              <a:t>OBJECTIVE</a:t>
            </a:r>
          </a:p>
        </p:txBody>
      </p:sp>
      <p:sp>
        <p:nvSpPr>
          <p:cNvPr name="TextBox 6" id="6"/>
          <p:cNvSpPr txBox="true"/>
          <p:nvPr/>
        </p:nvSpPr>
        <p:spPr>
          <a:xfrm rot="0">
            <a:off x="655905" y="1320928"/>
            <a:ext cx="15947490" cy="7368919"/>
          </a:xfrm>
          <a:prstGeom prst="rect">
            <a:avLst/>
          </a:prstGeom>
        </p:spPr>
        <p:txBody>
          <a:bodyPr anchor="t" rtlCol="false" tIns="0" lIns="0" bIns="0" rIns="0">
            <a:spAutoFit/>
          </a:bodyPr>
          <a:lstStyle/>
          <a:p>
            <a:pPr algn="just">
              <a:lnSpc>
                <a:spcPts val="8800"/>
              </a:lnSpc>
            </a:pPr>
            <a:r>
              <a:rPr lang="en-US" sz="5000">
                <a:solidFill>
                  <a:srgbClr val="303870"/>
                </a:solidFill>
                <a:latin typeface="Nunito"/>
                <a:ea typeface="Nunito"/>
                <a:cs typeface="Nunito"/>
                <a:sym typeface="Nunito"/>
              </a:rPr>
              <a:t>In this lab activity Static Code Analysis will be conducted on 2 cases: </a:t>
            </a:r>
          </a:p>
          <a:p>
            <a:pPr algn="just">
              <a:lnSpc>
                <a:spcPts val="2500"/>
              </a:lnSpc>
            </a:pPr>
          </a:p>
          <a:p>
            <a:pPr algn="just">
              <a:lnSpc>
                <a:spcPts val="8800"/>
              </a:lnSpc>
            </a:pPr>
            <a:r>
              <a:rPr lang="en-US" sz="5000">
                <a:solidFill>
                  <a:srgbClr val="303870"/>
                </a:solidFill>
                <a:latin typeface="Nunito"/>
                <a:ea typeface="Nunito"/>
                <a:cs typeface="Nunito"/>
                <a:sym typeface="Nunito"/>
              </a:rPr>
              <a:t>Case </a:t>
            </a:r>
            <a:r>
              <a:rPr lang="en-US" sz="5000">
                <a:solidFill>
                  <a:srgbClr val="303870"/>
                </a:solidFill>
                <a:latin typeface="Nunito"/>
                <a:ea typeface="Nunito"/>
                <a:cs typeface="Nunito"/>
                <a:sym typeface="Nunito"/>
              </a:rPr>
              <a:t>1) one with known vulnerabilities</a:t>
            </a:r>
          </a:p>
          <a:p>
            <a:pPr algn="just">
              <a:lnSpc>
                <a:spcPts val="8800"/>
              </a:lnSpc>
            </a:pPr>
            <a:r>
              <a:rPr lang="en-US" sz="5000">
                <a:solidFill>
                  <a:srgbClr val="303870"/>
                </a:solidFill>
                <a:latin typeface="Nunito"/>
                <a:ea typeface="Nunito"/>
                <a:cs typeface="Nunito"/>
                <a:sym typeface="Nunito"/>
              </a:rPr>
              <a:t>Case 2) one without known vulnerabilities.</a:t>
            </a:r>
          </a:p>
          <a:p>
            <a:pPr algn="just">
              <a:lnSpc>
                <a:spcPts val="8800"/>
              </a:lnSpc>
            </a:pPr>
          </a:p>
          <a:p>
            <a:pPr algn="just">
              <a:lnSpc>
                <a:spcPts val="5984"/>
              </a:lnSpc>
            </a:pPr>
            <a:r>
              <a:rPr lang="en-US" sz="3400">
                <a:solidFill>
                  <a:srgbClr val="303870"/>
                </a:solidFill>
                <a:latin typeface="Nunito"/>
                <a:ea typeface="Nunito"/>
                <a:cs typeface="Nunito"/>
                <a:sym typeface="Nunito"/>
              </a:rPr>
              <a:t>*For each case the code will be analyzed with Sonarcloud for the code and with OWASP’s dependency-check tool.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EDE2"/>
        </a:solidFill>
      </p:bgPr>
    </p:bg>
    <p:spTree>
      <p:nvGrpSpPr>
        <p:cNvPr id="1" name=""/>
        <p:cNvGrpSpPr/>
        <p:nvPr/>
      </p:nvGrpSpPr>
      <p:grpSpPr>
        <a:xfrm>
          <a:off x="0" y="0"/>
          <a:ext cx="0" cy="0"/>
          <a:chOff x="0" y="0"/>
          <a:chExt cx="0" cy="0"/>
        </a:xfrm>
      </p:grpSpPr>
      <p:grpSp>
        <p:nvGrpSpPr>
          <p:cNvPr name="Group 2" id="2"/>
          <p:cNvGrpSpPr/>
          <p:nvPr/>
        </p:nvGrpSpPr>
        <p:grpSpPr>
          <a:xfrm rot="0">
            <a:off x="17259300"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name="TextBox 4" id="4"/>
            <p:cNvSpPr txBox="true"/>
            <p:nvPr/>
          </p:nvSpPr>
          <p:spPr>
            <a:xfrm>
              <a:off x="0" y="-95250"/>
              <a:ext cx="812800" cy="2804583"/>
            </a:xfrm>
            <a:prstGeom prst="rect">
              <a:avLst/>
            </a:prstGeom>
          </p:spPr>
          <p:txBody>
            <a:bodyPr anchor="ctr" rtlCol="false" tIns="50800" lIns="50800" bIns="50800" rIns="50800"/>
            <a:lstStyle/>
            <a:p>
              <a:pPr algn="ctr">
                <a:lnSpc>
                  <a:spcPts val="3287"/>
                </a:lnSpc>
              </a:pPr>
            </a:p>
          </p:txBody>
        </p:sp>
      </p:grpSp>
      <p:sp>
        <p:nvSpPr>
          <p:cNvPr name="Freeform 5" id="5"/>
          <p:cNvSpPr/>
          <p:nvPr/>
        </p:nvSpPr>
        <p:spPr>
          <a:xfrm flipH="false" flipV="false" rot="0">
            <a:off x="860003" y="3388507"/>
            <a:ext cx="11512985" cy="6332142"/>
          </a:xfrm>
          <a:custGeom>
            <a:avLst/>
            <a:gdLst/>
            <a:ahLst/>
            <a:cxnLst/>
            <a:rect r="r" b="b" t="t" l="l"/>
            <a:pathLst>
              <a:path h="6332142" w="11512985">
                <a:moveTo>
                  <a:pt x="0" y="0"/>
                </a:moveTo>
                <a:lnTo>
                  <a:pt x="11512985" y="0"/>
                </a:lnTo>
                <a:lnTo>
                  <a:pt x="11512985" y="6332142"/>
                </a:lnTo>
                <a:lnTo>
                  <a:pt x="0" y="6332142"/>
                </a:lnTo>
                <a:lnTo>
                  <a:pt x="0" y="0"/>
                </a:lnTo>
                <a:close/>
              </a:path>
            </a:pathLst>
          </a:custGeom>
          <a:blipFill>
            <a:blip r:embed="rId2"/>
            <a:stretch>
              <a:fillRect l="0" t="0" r="0" b="0"/>
            </a:stretch>
          </a:blipFill>
        </p:spPr>
      </p:sp>
      <p:sp>
        <p:nvSpPr>
          <p:cNvPr name="TextBox 6" id="6"/>
          <p:cNvSpPr txBox="true"/>
          <p:nvPr/>
        </p:nvSpPr>
        <p:spPr>
          <a:xfrm rot="0">
            <a:off x="860003" y="344805"/>
            <a:ext cx="8142442" cy="1215390"/>
          </a:xfrm>
          <a:prstGeom prst="rect">
            <a:avLst/>
          </a:prstGeom>
        </p:spPr>
        <p:txBody>
          <a:bodyPr anchor="t" rtlCol="false" tIns="0" lIns="0" bIns="0" rIns="0">
            <a:spAutoFit/>
          </a:bodyPr>
          <a:lstStyle/>
          <a:p>
            <a:pPr algn="l">
              <a:lnSpc>
                <a:spcPts val="7979"/>
              </a:lnSpc>
            </a:pPr>
            <a:r>
              <a:rPr lang="en-US" sz="6999" b="true">
                <a:solidFill>
                  <a:srgbClr val="303870"/>
                </a:solidFill>
                <a:latin typeface="Agrandir Wide Bold"/>
                <a:ea typeface="Agrandir Wide Bold"/>
                <a:cs typeface="Agrandir Wide Bold"/>
                <a:sym typeface="Agrandir Wide Bold"/>
              </a:rPr>
              <a:t>Case 1</a:t>
            </a:r>
          </a:p>
        </p:txBody>
      </p:sp>
      <p:sp>
        <p:nvSpPr>
          <p:cNvPr name="TextBox 7" id="7"/>
          <p:cNvSpPr txBox="true"/>
          <p:nvPr/>
        </p:nvSpPr>
        <p:spPr>
          <a:xfrm rot="0">
            <a:off x="189569" y="1582850"/>
            <a:ext cx="16945415" cy="1413130"/>
          </a:xfrm>
          <a:prstGeom prst="rect">
            <a:avLst/>
          </a:prstGeom>
        </p:spPr>
        <p:txBody>
          <a:bodyPr anchor="t" rtlCol="false" tIns="0" lIns="0" bIns="0" rIns="0">
            <a:spAutoFit/>
          </a:bodyPr>
          <a:lstStyle/>
          <a:p>
            <a:pPr algn="l">
              <a:lnSpc>
                <a:spcPts val="5807"/>
              </a:lnSpc>
            </a:pPr>
            <a:r>
              <a:rPr lang="en-US" sz="3299">
                <a:solidFill>
                  <a:srgbClr val="303870"/>
                </a:solidFill>
                <a:latin typeface="Nunito"/>
                <a:ea typeface="Nunito"/>
                <a:cs typeface="Nunito"/>
                <a:sym typeface="Nunito"/>
              </a:rPr>
              <a:t>As a target application for the security analysis, the intentionally vulnerable repository </a:t>
            </a:r>
            <a:r>
              <a:rPr lang="en-US" sz="3299" b="true">
                <a:solidFill>
                  <a:srgbClr val="303870"/>
                </a:solidFill>
                <a:latin typeface="Nunito Bold"/>
                <a:ea typeface="Nunito Bold"/>
                <a:cs typeface="Nunito Bold"/>
                <a:sym typeface="Nunito Bold"/>
              </a:rPr>
              <a:t>OWASP Juice Shop</a:t>
            </a:r>
            <a:r>
              <a:rPr lang="en-US" sz="3299">
                <a:solidFill>
                  <a:srgbClr val="303870"/>
                </a:solidFill>
                <a:latin typeface="Nunito"/>
                <a:ea typeface="Nunito"/>
                <a:cs typeface="Nunito"/>
                <a:sym typeface="Nunito"/>
              </a:rPr>
              <a:t> was selected. </a:t>
            </a:r>
          </a:p>
        </p:txBody>
      </p:sp>
      <p:sp>
        <p:nvSpPr>
          <p:cNvPr name="TextBox 8" id="8"/>
          <p:cNvSpPr txBox="true"/>
          <p:nvPr/>
        </p:nvSpPr>
        <p:spPr>
          <a:xfrm rot="0">
            <a:off x="12608094" y="4561496"/>
            <a:ext cx="4416100" cy="3272790"/>
          </a:xfrm>
          <a:prstGeom prst="rect">
            <a:avLst/>
          </a:prstGeom>
        </p:spPr>
        <p:txBody>
          <a:bodyPr anchor="t" rtlCol="false" tIns="0" lIns="0" bIns="0" rIns="0">
            <a:spAutoFit/>
          </a:bodyPr>
          <a:lstStyle/>
          <a:p>
            <a:pPr algn="l">
              <a:lnSpc>
                <a:spcPts val="5280"/>
              </a:lnSpc>
            </a:pPr>
            <a:r>
              <a:rPr lang="en-US" sz="3000">
                <a:solidFill>
                  <a:srgbClr val="303870"/>
                </a:solidFill>
                <a:latin typeface="Nunito"/>
                <a:ea typeface="Nunito"/>
                <a:cs typeface="Nunito"/>
                <a:sym typeface="Nunito"/>
              </a:rPr>
              <a:t>Since it is a quite big repository with many intentional vulnerabilities i decided to focus only on an SQLi challenge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EDE2"/>
        </a:solidFill>
      </p:bgPr>
    </p:bg>
    <p:spTree>
      <p:nvGrpSpPr>
        <p:cNvPr id="1" name=""/>
        <p:cNvGrpSpPr/>
        <p:nvPr/>
      </p:nvGrpSpPr>
      <p:grpSpPr>
        <a:xfrm>
          <a:off x="0" y="0"/>
          <a:ext cx="0" cy="0"/>
          <a:chOff x="0" y="0"/>
          <a:chExt cx="0" cy="0"/>
        </a:xfrm>
      </p:grpSpPr>
      <p:grpSp>
        <p:nvGrpSpPr>
          <p:cNvPr name="Group 2" id="2"/>
          <p:cNvGrpSpPr/>
          <p:nvPr/>
        </p:nvGrpSpPr>
        <p:grpSpPr>
          <a:xfrm rot="0">
            <a:off x="17259300"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name="TextBox 4" id="4"/>
            <p:cNvSpPr txBox="true"/>
            <p:nvPr/>
          </p:nvSpPr>
          <p:spPr>
            <a:xfrm>
              <a:off x="0" y="-95250"/>
              <a:ext cx="812800" cy="2804583"/>
            </a:xfrm>
            <a:prstGeom prst="rect">
              <a:avLst/>
            </a:prstGeom>
          </p:spPr>
          <p:txBody>
            <a:bodyPr anchor="ctr" rtlCol="false" tIns="50800" lIns="50800" bIns="50800" rIns="50800"/>
            <a:lstStyle/>
            <a:p>
              <a:pPr algn="ctr">
                <a:lnSpc>
                  <a:spcPts val="3287"/>
                </a:lnSpc>
              </a:pPr>
            </a:p>
          </p:txBody>
        </p:sp>
      </p:grpSp>
      <p:sp>
        <p:nvSpPr>
          <p:cNvPr name="Freeform 5" id="5"/>
          <p:cNvSpPr/>
          <p:nvPr/>
        </p:nvSpPr>
        <p:spPr>
          <a:xfrm flipH="false" flipV="false" rot="0">
            <a:off x="316157" y="1560195"/>
            <a:ext cx="12123640" cy="4387498"/>
          </a:xfrm>
          <a:custGeom>
            <a:avLst/>
            <a:gdLst/>
            <a:ahLst/>
            <a:cxnLst/>
            <a:rect r="r" b="b" t="t" l="l"/>
            <a:pathLst>
              <a:path h="4387498" w="12123640">
                <a:moveTo>
                  <a:pt x="0" y="0"/>
                </a:moveTo>
                <a:lnTo>
                  <a:pt x="12123639" y="0"/>
                </a:lnTo>
                <a:lnTo>
                  <a:pt x="12123639" y="4387498"/>
                </a:lnTo>
                <a:lnTo>
                  <a:pt x="0" y="4387498"/>
                </a:lnTo>
                <a:lnTo>
                  <a:pt x="0" y="0"/>
                </a:lnTo>
                <a:close/>
              </a:path>
            </a:pathLst>
          </a:custGeom>
          <a:blipFill>
            <a:blip r:embed="rId2"/>
            <a:stretch>
              <a:fillRect l="0" t="0" r="0" b="0"/>
            </a:stretch>
          </a:blipFill>
        </p:spPr>
      </p:sp>
      <p:sp>
        <p:nvSpPr>
          <p:cNvPr name="AutoShape 6" id="6"/>
          <p:cNvSpPr/>
          <p:nvPr/>
        </p:nvSpPr>
        <p:spPr>
          <a:xfrm flipH="true">
            <a:off x="5146155" y="2113990"/>
            <a:ext cx="8069989" cy="1682787"/>
          </a:xfrm>
          <a:prstGeom prst="line">
            <a:avLst/>
          </a:prstGeom>
          <a:ln cap="flat" w="85725">
            <a:solidFill>
              <a:srgbClr val="C9362D"/>
            </a:solidFill>
            <a:prstDash val="solid"/>
            <a:headEnd type="none" len="sm" w="sm"/>
            <a:tailEnd type="triangle" len="med" w="lg"/>
          </a:ln>
        </p:spPr>
      </p:sp>
      <p:sp>
        <p:nvSpPr>
          <p:cNvPr name="Freeform 7" id="7"/>
          <p:cNvSpPr/>
          <p:nvPr/>
        </p:nvSpPr>
        <p:spPr>
          <a:xfrm flipH="false" flipV="false" rot="0">
            <a:off x="316157" y="7611963"/>
            <a:ext cx="13712047" cy="2325505"/>
          </a:xfrm>
          <a:custGeom>
            <a:avLst/>
            <a:gdLst/>
            <a:ahLst/>
            <a:cxnLst/>
            <a:rect r="r" b="b" t="t" l="l"/>
            <a:pathLst>
              <a:path h="2325505" w="13712047">
                <a:moveTo>
                  <a:pt x="0" y="0"/>
                </a:moveTo>
                <a:lnTo>
                  <a:pt x="13712046" y="0"/>
                </a:lnTo>
                <a:lnTo>
                  <a:pt x="13712046" y="2325505"/>
                </a:lnTo>
                <a:lnTo>
                  <a:pt x="0" y="2325505"/>
                </a:lnTo>
                <a:lnTo>
                  <a:pt x="0" y="0"/>
                </a:lnTo>
                <a:close/>
              </a:path>
            </a:pathLst>
          </a:custGeom>
          <a:blipFill>
            <a:blip r:embed="rId3"/>
            <a:stretch>
              <a:fillRect l="0" t="0" r="0" b="0"/>
            </a:stretch>
          </a:blipFill>
        </p:spPr>
      </p:sp>
      <p:sp>
        <p:nvSpPr>
          <p:cNvPr name="TextBox 8" id="8"/>
          <p:cNvSpPr txBox="true"/>
          <p:nvPr/>
        </p:nvSpPr>
        <p:spPr>
          <a:xfrm rot="0">
            <a:off x="487056" y="343379"/>
            <a:ext cx="16129724" cy="1215390"/>
          </a:xfrm>
          <a:prstGeom prst="rect">
            <a:avLst/>
          </a:prstGeom>
        </p:spPr>
        <p:txBody>
          <a:bodyPr anchor="t" rtlCol="false" tIns="0" lIns="0" bIns="0" rIns="0">
            <a:spAutoFit/>
          </a:bodyPr>
          <a:lstStyle/>
          <a:p>
            <a:pPr algn="l">
              <a:lnSpc>
                <a:spcPts val="7979"/>
              </a:lnSpc>
            </a:pPr>
            <a:r>
              <a:rPr lang="en-US" sz="6999" b="true">
                <a:solidFill>
                  <a:srgbClr val="303870"/>
                </a:solidFill>
                <a:latin typeface="Agrandir Wide Bold"/>
                <a:ea typeface="Agrandir Wide Bold"/>
                <a:cs typeface="Agrandir Wide Bold"/>
                <a:sym typeface="Agrandir Wide Bold"/>
              </a:rPr>
              <a:t>Case 1.1: Sonarcloud Analysis</a:t>
            </a:r>
          </a:p>
        </p:txBody>
      </p:sp>
      <p:sp>
        <p:nvSpPr>
          <p:cNvPr name="TextBox 9" id="9"/>
          <p:cNvSpPr txBox="true"/>
          <p:nvPr/>
        </p:nvSpPr>
        <p:spPr>
          <a:xfrm rot="0">
            <a:off x="13356313" y="1522574"/>
            <a:ext cx="4416100" cy="1939290"/>
          </a:xfrm>
          <a:prstGeom prst="rect">
            <a:avLst/>
          </a:prstGeom>
        </p:spPr>
        <p:txBody>
          <a:bodyPr anchor="t" rtlCol="false" tIns="0" lIns="0" bIns="0" rIns="0">
            <a:spAutoFit/>
          </a:bodyPr>
          <a:lstStyle/>
          <a:p>
            <a:pPr algn="l">
              <a:lnSpc>
                <a:spcPts val="5280"/>
              </a:lnSpc>
            </a:pPr>
            <a:r>
              <a:rPr lang="en-US" sz="3000">
                <a:solidFill>
                  <a:srgbClr val="303870"/>
                </a:solidFill>
                <a:latin typeface="Nunito"/>
                <a:ea typeface="Nunito"/>
                <a:cs typeface="Nunito"/>
                <a:sym typeface="Nunito"/>
              </a:rPr>
              <a:t>As expected many Security Issues were found,</a:t>
            </a:r>
          </a:p>
        </p:txBody>
      </p:sp>
      <p:sp>
        <p:nvSpPr>
          <p:cNvPr name="TextBox 10" id="10"/>
          <p:cNvSpPr txBox="true"/>
          <p:nvPr/>
        </p:nvSpPr>
        <p:spPr>
          <a:xfrm rot="0">
            <a:off x="316157" y="6914733"/>
            <a:ext cx="8142442" cy="697230"/>
          </a:xfrm>
          <a:prstGeom prst="rect">
            <a:avLst/>
          </a:prstGeom>
        </p:spPr>
        <p:txBody>
          <a:bodyPr anchor="t" rtlCol="false" tIns="0" lIns="0" bIns="0" rIns="0">
            <a:spAutoFit/>
          </a:bodyPr>
          <a:lstStyle/>
          <a:p>
            <a:pPr algn="l">
              <a:lnSpc>
                <a:spcPts val="4559"/>
              </a:lnSpc>
            </a:pPr>
            <a:r>
              <a:rPr lang="en-US" sz="3999" b="true">
                <a:solidFill>
                  <a:srgbClr val="303870"/>
                </a:solidFill>
                <a:latin typeface="Agrandir Wide Bold"/>
                <a:ea typeface="Agrandir Wide Bold"/>
                <a:cs typeface="Agrandir Wide Bold"/>
                <a:sym typeface="Agrandir Wide Bold"/>
              </a:rPr>
              <a:t>Example SQL vulnerability: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EDE2"/>
        </a:solidFill>
      </p:bgPr>
    </p:bg>
    <p:spTree>
      <p:nvGrpSpPr>
        <p:cNvPr id="1" name=""/>
        <p:cNvGrpSpPr/>
        <p:nvPr/>
      </p:nvGrpSpPr>
      <p:grpSpPr>
        <a:xfrm>
          <a:off x="0" y="0"/>
          <a:ext cx="0" cy="0"/>
          <a:chOff x="0" y="0"/>
          <a:chExt cx="0" cy="0"/>
        </a:xfrm>
      </p:grpSpPr>
      <p:grpSp>
        <p:nvGrpSpPr>
          <p:cNvPr name="Group 2" id="2"/>
          <p:cNvGrpSpPr/>
          <p:nvPr/>
        </p:nvGrpSpPr>
        <p:grpSpPr>
          <a:xfrm rot="0">
            <a:off x="17259300"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name="TextBox 4" id="4"/>
            <p:cNvSpPr txBox="true"/>
            <p:nvPr/>
          </p:nvSpPr>
          <p:spPr>
            <a:xfrm>
              <a:off x="0" y="-95250"/>
              <a:ext cx="812800" cy="2804583"/>
            </a:xfrm>
            <a:prstGeom prst="rect">
              <a:avLst/>
            </a:prstGeom>
          </p:spPr>
          <p:txBody>
            <a:bodyPr anchor="ctr" rtlCol="false" tIns="50800" lIns="50800" bIns="50800" rIns="50800"/>
            <a:lstStyle/>
            <a:p>
              <a:pPr algn="ctr">
                <a:lnSpc>
                  <a:spcPts val="3287"/>
                </a:lnSpc>
              </a:pPr>
            </a:p>
          </p:txBody>
        </p:sp>
      </p:grpSp>
      <p:sp>
        <p:nvSpPr>
          <p:cNvPr name="Freeform 5" id="5"/>
          <p:cNvSpPr/>
          <p:nvPr/>
        </p:nvSpPr>
        <p:spPr>
          <a:xfrm flipH="false" flipV="false" rot="0">
            <a:off x="624674" y="1450086"/>
            <a:ext cx="16254030" cy="3062114"/>
          </a:xfrm>
          <a:custGeom>
            <a:avLst/>
            <a:gdLst/>
            <a:ahLst/>
            <a:cxnLst/>
            <a:rect r="r" b="b" t="t" l="l"/>
            <a:pathLst>
              <a:path h="3062114" w="16254030">
                <a:moveTo>
                  <a:pt x="0" y="0"/>
                </a:moveTo>
                <a:lnTo>
                  <a:pt x="16254030" y="0"/>
                </a:lnTo>
                <a:lnTo>
                  <a:pt x="16254030" y="3062114"/>
                </a:lnTo>
                <a:lnTo>
                  <a:pt x="0" y="3062114"/>
                </a:lnTo>
                <a:lnTo>
                  <a:pt x="0" y="0"/>
                </a:lnTo>
                <a:close/>
              </a:path>
            </a:pathLst>
          </a:custGeom>
          <a:blipFill>
            <a:blip r:embed="rId2"/>
            <a:stretch>
              <a:fillRect l="0" t="0" r="0" b="0"/>
            </a:stretch>
          </a:blipFill>
        </p:spPr>
      </p:sp>
      <p:sp>
        <p:nvSpPr>
          <p:cNvPr name="Freeform 6" id="6"/>
          <p:cNvSpPr/>
          <p:nvPr/>
        </p:nvSpPr>
        <p:spPr>
          <a:xfrm flipH="false" flipV="false" rot="0">
            <a:off x="624674" y="6155457"/>
            <a:ext cx="10910593" cy="3663528"/>
          </a:xfrm>
          <a:custGeom>
            <a:avLst/>
            <a:gdLst/>
            <a:ahLst/>
            <a:cxnLst/>
            <a:rect r="r" b="b" t="t" l="l"/>
            <a:pathLst>
              <a:path h="3663528" w="10910593">
                <a:moveTo>
                  <a:pt x="0" y="0"/>
                </a:moveTo>
                <a:lnTo>
                  <a:pt x="10910593" y="0"/>
                </a:lnTo>
                <a:lnTo>
                  <a:pt x="10910593" y="3663528"/>
                </a:lnTo>
                <a:lnTo>
                  <a:pt x="0" y="3663528"/>
                </a:lnTo>
                <a:lnTo>
                  <a:pt x="0" y="0"/>
                </a:lnTo>
                <a:close/>
              </a:path>
            </a:pathLst>
          </a:custGeom>
          <a:blipFill>
            <a:blip r:embed="rId3"/>
            <a:stretch>
              <a:fillRect l="0" t="0" r="0" b="0"/>
            </a:stretch>
          </a:blipFill>
        </p:spPr>
      </p:sp>
      <p:sp>
        <p:nvSpPr>
          <p:cNvPr name="TextBox 7" id="7"/>
          <p:cNvSpPr txBox="true"/>
          <p:nvPr/>
        </p:nvSpPr>
        <p:spPr>
          <a:xfrm rot="0">
            <a:off x="860003" y="354330"/>
            <a:ext cx="18041077" cy="1095756"/>
          </a:xfrm>
          <a:prstGeom prst="rect">
            <a:avLst/>
          </a:prstGeom>
        </p:spPr>
        <p:txBody>
          <a:bodyPr anchor="t" rtlCol="false" tIns="0" lIns="0" bIns="0" rIns="0">
            <a:spAutoFit/>
          </a:bodyPr>
          <a:lstStyle/>
          <a:p>
            <a:pPr algn="l">
              <a:lnSpc>
                <a:spcPts val="7182"/>
              </a:lnSpc>
            </a:pPr>
            <a:r>
              <a:rPr lang="en-US" sz="6300" b="true">
                <a:solidFill>
                  <a:srgbClr val="303870"/>
                </a:solidFill>
                <a:latin typeface="Agrandir Wide Bold"/>
                <a:ea typeface="Agrandir Wide Bold"/>
                <a:cs typeface="Agrandir Wide Bold"/>
                <a:sym typeface="Agrandir Wide Bold"/>
              </a:rPr>
              <a:t>Case 1.2: Vulneravle Code Example</a:t>
            </a:r>
          </a:p>
        </p:txBody>
      </p:sp>
      <p:sp>
        <p:nvSpPr>
          <p:cNvPr name="TextBox 8" id="8"/>
          <p:cNvSpPr txBox="true"/>
          <p:nvPr/>
        </p:nvSpPr>
        <p:spPr>
          <a:xfrm rot="0">
            <a:off x="624674" y="5337098"/>
            <a:ext cx="18041077" cy="697230"/>
          </a:xfrm>
          <a:prstGeom prst="rect">
            <a:avLst/>
          </a:prstGeom>
        </p:spPr>
        <p:txBody>
          <a:bodyPr anchor="t" rtlCol="false" tIns="0" lIns="0" bIns="0" rIns="0">
            <a:spAutoFit/>
          </a:bodyPr>
          <a:lstStyle/>
          <a:p>
            <a:pPr algn="l">
              <a:lnSpc>
                <a:spcPts val="4559"/>
              </a:lnSpc>
            </a:pPr>
            <a:r>
              <a:rPr lang="en-US" sz="3999" b="true">
                <a:solidFill>
                  <a:srgbClr val="303870"/>
                </a:solidFill>
                <a:latin typeface="Agrandir Wide Bold"/>
                <a:ea typeface="Agrandir Wide Bold"/>
                <a:cs typeface="Agrandir Wide Bold"/>
                <a:sym typeface="Agrandir Wide Bold"/>
              </a:rPr>
              <a:t>Proposed solution template from sonarcloud: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EDE2"/>
        </a:solidFill>
      </p:bgPr>
    </p:bg>
    <p:spTree>
      <p:nvGrpSpPr>
        <p:cNvPr id="1" name=""/>
        <p:cNvGrpSpPr/>
        <p:nvPr/>
      </p:nvGrpSpPr>
      <p:grpSpPr>
        <a:xfrm>
          <a:off x="0" y="0"/>
          <a:ext cx="0" cy="0"/>
          <a:chOff x="0" y="0"/>
          <a:chExt cx="0" cy="0"/>
        </a:xfrm>
      </p:grpSpPr>
      <p:grpSp>
        <p:nvGrpSpPr>
          <p:cNvPr name="Group 2" id="2"/>
          <p:cNvGrpSpPr/>
          <p:nvPr/>
        </p:nvGrpSpPr>
        <p:grpSpPr>
          <a:xfrm rot="0">
            <a:off x="17259300"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name="TextBox 4" id="4"/>
            <p:cNvSpPr txBox="true"/>
            <p:nvPr/>
          </p:nvSpPr>
          <p:spPr>
            <a:xfrm>
              <a:off x="0" y="-95250"/>
              <a:ext cx="812800" cy="2804583"/>
            </a:xfrm>
            <a:prstGeom prst="rect">
              <a:avLst/>
            </a:prstGeom>
          </p:spPr>
          <p:txBody>
            <a:bodyPr anchor="ctr" rtlCol="false" tIns="50800" lIns="50800" bIns="50800" rIns="50800"/>
            <a:lstStyle/>
            <a:p>
              <a:pPr algn="ctr">
                <a:lnSpc>
                  <a:spcPts val="3287"/>
                </a:lnSpc>
              </a:pPr>
            </a:p>
          </p:txBody>
        </p:sp>
      </p:grpSp>
      <p:sp>
        <p:nvSpPr>
          <p:cNvPr name="Freeform 5" id="5"/>
          <p:cNvSpPr/>
          <p:nvPr/>
        </p:nvSpPr>
        <p:spPr>
          <a:xfrm flipH="false" flipV="false" rot="0">
            <a:off x="510339" y="1714688"/>
            <a:ext cx="9311079" cy="2480905"/>
          </a:xfrm>
          <a:custGeom>
            <a:avLst/>
            <a:gdLst/>
            <a:ahLst/>
            <a:cxnLst/>
            <a:rect r="r" b="b" t="t" l="l"/>
            <a:pathLst>
              <a:path h="2480905" w="9311079">
                <a:moveTo>
                  <a:pt x="0" y="0"/>
                </a:moveTo>
                <a:lnTo>
                  <a:pt x="9311080" y="0"/>
                </a:lnTo>
                <a:lnTo>
                  <a:pt x="9311080" y="2480905"/>
                </a:lnTo>
                <a:lnTo>
                  <a:pt x="0" y="2480905"/>
                </a:lnTo>
                <a:lnTo>
                  <a:pt x="0" y="0"/>
                </a:lnTo>
                <a:close/>
              </a:path>
            </a:pathLst>
          </a:custGeom>
          <a:blipFill>
            <a:blip r:embed="rId2"/>
            <a:stretch>
              <a:fillRect l="-13351" t="-28812" r="0" b="-42374"/>
            </a:stretch>
          </a:blipFill>
        </p:spPr>
      </p:sp>
      <p:sp>
        <p:nvSpPr>
          <p:cNvPr name="Freeform 6" id="6"/>
          <p:cNvSpPr/>
          <p:nvPr/>
        </p:nvSpPr>
        <p:spPr>
          <a:xfrm flipH="false" flipV="false" rot="0">
            <a:off x="416920" y="6585300"/>
            <a:ext cx="16176525" cy="1981624"/>
          </a:xfrm>
          <a:custGeom>
            <a:avLst/>
            <a:gdLst/>
            <a:ahLst/>
            <a:cxnLst/>
            <a:rect r="r" b="b" t="t" l="l"/>
            <a:pathLst>
              <a:path h="1981624" w="16176525">
                <a:moveTo>
                  <a:pt x="0" y="0"/>
                </a:moveTo>
                <a:lnTo>
                  <a:pt x="16176525" y="0"/>
                </a:lnTo>
                <a:lnTo>
                  <a:pt x="16176525" y="1981625"/>
                </a:lnTo>
                <a:lnTo>
                  <a:pt x="0" y="1981625"/>
                </a:lnTo>
                <a:lnTo>
                  <a:pt x="0" y="0"/>
                </a:lnTo>
                <a:close/>
              </a:path>
            </a:pathLst>
          </a:custGeom>
          <a:blipFill>
            <a:blip r:embed="rId3"/>
            <a:stretch>
              <a:fillRect l="0" t="0" r="0" b="0"/>
            </a:stretch>
          </a:blipFill>
        </p:spPr>
      </p:sp>
      <p:sp>
        <p:nvSpPr>
          <p:cNvPr name="TextBox 7" id="7"/>
          <p:cNvSpPr txBox="true"/>
          <p:nvPr/>
        </p:nvSpPr>
        <p:spPr>
          <a:xfrm rot="0">
            <a:off x="510339" y="344805"/>
            <a:ext cx="16580368" cy="1215390"/>
          </a:xfrm>
          <a:prstGeom prst="rect">
            <a:avLst/>
          </a:prstGeom>
        </p:spPr>
        <p:txBody>
          <a:bodyPr anchor="t" rtlCol="false" tIns="0" lIns="0" bIns="0" rIns="0">
            <a:spAutoFit/>
          </a:bodyPr>
          <a:lstStyle/>
          <a:p>
            <a:pPr algn="l">
              <a:lnSpc>
                <a:spcPts val="7979"/>
              </a:lnSpc>
            </a:pPr>
            <a:r>
              <a:rPr lang="en-US" sz="6999" b="true">
                <a:solidFill>
                  <a:srgbClr val="303870"/>
                </a:solidFill>
                <a:latin typeface="Agrandir Wide Bold"/>
                <a:ea typeface="Agrandir Wide Bold"/>
                <a:cs typeface="Agrandir Wide Bold"/>
                <a:sym typeface="Agrandir Wide Bold"/>
              </a:rPr>
              <a:t>Case 1.3: Dependencies Analysis</a:t>
            </a:r>
          </a:p>
        </p:txBody>
      </p:sp>
      <p:sp>
        <p:nvSpPr>
          <p:cNvPr name="TextBox 8" id="8"/>
          <p:cNvSpPr txBox="true"/>
          <p:nvPr/>
        </p:nvSpPr>
        <p:spPr>
          <a:xfrm rot="0">
            <a:off x="416920" y="8805050"/>
            <a:ext cx="16842380" cy="1272540"/>
          </a:xfrm>
          <a:prstGeom prst="rect">
            <a:avLst/>
          </a:prstGeom>
        </p:spPr>
        <p:txBody>
          <a:bodyPr anchor="t" rtlCol="false" tIns="0" lIns="0" bIns="0" rIns="0">
            <a:spAutoFit/>
          </a:bodyPr>
          <a:lstStyle/>
          <a:p>
            <a:pPr algn="l">
              <a:lnSpc>
                <a:spcPts val="5280"/>
              </a:lnSpc>
            </a:pPr>
            <a:r>
              <a:rPr lang="en-US" sz="3000">
                <a:solidFill>
                  <a:srgbClr val="303870"/>
                </a:solidFill>
                <a:latin typeface="Nunito"/>
                <a:ea typeface="Nunito"/>
                <a:cs typeface="Nunito"/>
                <a:sym typeface="Nunito"/>
              </a:rPr>
              <a:t>Dependency analysis identified vulnerable versions of the Jackson Databind library. The detected version (2.20.0) is associated with multiple known CVEs classified with HIGH severity.</a:t>
            </a:r>
          </a:p>
        </p:txBody>
      </p:sp>
      <p:sp>
        <p:nvSpPr>
          <p:cNvPr name="TextBox 9" id="9"/>
          <p:cNvSpPr txBox="true"/>
          <p:nvPr/>
        </p:nvSpPr>
        <p:spPr>
          <a:xfrm rot="0">
            <a:off x="416920" y="5497545"/>
            <a:ext cx="16580368" cy="697230"/>
          </a:xfrm>
          <a:prstGeom prst="rect">
            <a:avLst/>
          </a:prstGeom>
        </p:spPr>
        <p:txBody>
          <a:bodyPr anchor="t" rtlCol="false" tIns="0" lIns="0" bIns="0" rIns="0">
            <a:spAutoFit/>
          </a:bodyPr>
          <a:lstStyle/>
          <a:p>
            <a:pPr algn="l">
              <a:lnSpc>
                <a:spcPts val="4559"/>
              </a:lnSpc>
            </a:pPr>
            <a:r>
              <a:rPr lang="en-US" sz="3999" b="true">
                <a:solidFill>
                  <a:srgbClr val="303870"/>
                </a:solidFill>
                <a:latin typeface="Agrandir Wide Bold"/>
                <a:ea typeface="Agrandir Wide Bold"/>
                <a:cs typeface="Agrandir Wide Bold"/>
                <a:sym typeface="Agrandir Wide Bold"/>
              </a:rPr>
              <a:t>HIGH Severity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EDE2"/>
        </a:solidFill>
      </p:bgPr>
    </p:bg>
    <p:spTree>
      <p:nvGrpSpPr>
        <p:cNvPr id="1" name=""/>
        <p:cNvGrpSpPr/>
        <p:nvPr/>
      </p:nvGrpSpPr>
      <p:grpSpPr>
        <a:xfrm>
          <a:off x="0" y="0"/>
          <a:ext cx="0" cy="0"/>
          <a:chOff x="0" y="0"/>
          <a:chExt cx="0" cy="0"/>
        </a:xfrm>
      </p:grpSpPr>
      <p:grpSp>
        <p:nvGrpSpPr>
          <p:cNvPr name="Group 2" id="2"/>
          <p:cNvGrpSpPr/>
          <p:nvPr/>
        </p:nvGrpSpPr>
        <p:grpSpPr>
          <a:xfrm rot="0">
            <a:off x="17259300"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name="TextBox 4" id="4"/>
            <p:cNvSpPr txBox="true"/>
            <p:nvPr/>
          </p:nvSpPr>
          <p:spPr>
            <a:xfrm>
              <a:off x="0" y="-95250"/>
              <a:ext cx="812800" cy="2804583"/>
            </a:xfrm>
            <a:prstGeom prst="rect">
              <a:avLst/>
            </a:prstGeom>
          </p:spPr>
          <p:txBody>
            <a:bodyPr anchor="ctr" rtlCol="false" tIns="50800" lIns="50800" bIns="50800" rIns="50800"/>
            <a:lstStyle/>
            <a:p>
              <a:pPr algn="ctr">
                <a:lnSpc>
                  <a:spcPts val="3287"/>
                </a:lnSpc>
              </a:pPr>
            </a:p>
          </p:txBody>
        </p:sp>
      </p:grpSp>
      <p:sp>
        <p:nvSpPr>
          <p:cNvPr name="Freeform 5" id="5"/>
          <p:cNvSpPr/>
          <p:nvPr/>
        </p:nvSpPr>
        <p:spPr>
          <a:xfrm flipH="false" flipV="false" rot="0">
            <a:off x="519834" y="5042535"/>
            <a:ext cx="12197575" cy="4703852"/>
          </a:xfrm>
          <a:custGeom>
            <a:avLst/>
            <a:gdLst/>
            <a:ahLst/>
            <a:cxnLst/>
            <a:rect r="r" b="b" t="t" l="l"/>
            <a:pathLst>
              <a:path h="4703852" w="12197575">
                <a:moveTo>
                  <a:pt x="0" y="0"/>
                </a:moveTo>
                <a:lnTo>
                  <a:pt x="12197575" y="0"/>
                </a:lnTo>
                <a:lnTo>
                  <a:pt x="12197575" y="4703852"/>
                </a:lnTo>
                <a:lnTo>
                  <a:pt x="0" y="4703852"/>
                </a:lnTo>
                <a:lnTo>
                  <a:pt x="0" y="0"/>
                </a:lnTo>
                <a:close/>
              </a:path>
            </a:pathLst>
          </a:custGeom>
          <a:blipFill>
            <a:blip r:embed="rId2"/>
            <a:stretch>
              <a:fillRect l="0" t="0" r="0" b="0"/>
            </a:stretch>
          </a:blipFill>
        </p:spPr>
      </p:sp>
      <p:sp>
        <p:nvSpPr>
          <p:cNvPr name="TextBox 6" id="6"/>
          <p:cNvSpPr txBox="true"/>
          <p:nvPr/>
        </p:nvSpPr>
        <p:spPr>
          <a:xfrm rot="0">
            <a:off x="519834" y="3966210"/>
            <a:ext cx="9603152" cy="876300"/>
          </a:xfrm>
          <a:prstGeom prst="rect">
            <a:avLst/>
          </a:prstGeom>
        </p:spPr>
        <p:txBody>
          <a:bodyPr anchor="t" rtlCol="false" tIns="0" lIns="0" bIns="0" rIns="0">
            <a:spAutoFit/>
          </a:bodyPr>
          <a:lstStyle/>
          <a:p>
            <a:pPr algn="l">
              <a:lnSpc>
                <a:spcPts val="5700"/>
              </a:lnSpc>
            </a:pPr>
            <a:r>
              <a:rPr lang="en-US" sz="5000" b="true">
                <a:solidFill>
                  <a:srgbClr val="303870"/>
                </a:solidFill>
                <a:latin typeface="Agrandir Wide Bold"/>
                <a:ea typeface="Agrandir Wide Bold"/>
                <a:cs typeface="Agrandir Wide Bold"/>
                <a:sym typeface="Agrandir Wide Bold"/>
              </a:rPr>
              <a:t>Analysis with sonarcloud:</a:t>
            </a:r>
          </a:p>
        </p:txBody>
      </p:sp>
      <p:sp>
        <p:nvSpPr>
          <p:cNvPr name="TextBox 7" id="7"/>
          <p:cNvSpPr txBox="true"/>
          <p:nvPr/>
        </p:nvSpPr>
        <p:spPr>
          <a:xfrm rot="0">
            <a:off x="189569" y="1611425"/>
            <a:ext cx="16945415" cy="1939290"/>
          </a:xfrm>
          <a:prstGeom prst="rect">
            <a:avLst/>
          </a:prstGeom>
        </p:spPr>
        <p:txBody>
          <a:bodyPr anchor="t" rtlCol="false" tIns="0" lIns="0" bIns="0" rIns="0">
            <a:spAutoFit/>
          </a:bodyPr>
          <a:lstStyle/>
          <a:p>
            <a:pPr algn="l">
              <a:lnSpc>
                <a:spcPts val="5280"/>
              </a:lnSpc>
            </a:pPr>
            <a:r>
              <a:rPr lang="en-US" sz="3000">
                <a:solidFill>
                  <a:srgbClr val="303870"/>
                </a:solidFill>
                <a:latin typeface="Nunito"/>
                <a:ea typeface="Nunito"/>
                <a:cs typeface="Nunito"/>
                <a:sym typeface="Nunito"/>
              </a:rPr>
              <a:t>As repository </a:t>
            </a:r>
            <a:r>
              <a:rPr lang="en-US" sz="3000" b="true">
                <a:solidFill>
                  <a:srgbClr val="303870"/>
                </a:solidFill>
                <a:latin typeface="Nunito Bold"/>
                <a:ea typeface="Nunito Bold"/>
                <a:cs typeface="Nunito Bold"/>
                <a:sym typeface="Nunito Bold"/>
              </a:rPr>
              <a:t>without</a:t>
            </a:r>
            <a:r>
              <a:rPr lang="en-US" sz="3000">
                <a:solidFill>
                  <a:srgbClr val="303870"/>
                </a:solidFill>
                <a:latin typeface="Nunito"/>
                <a:ea typeface="Nunito"/>
                <a:cs typeface="Nunito"/>
                <a:sym typeface="Nunito"/>
              </a:rPr>
              <a:t> known vulnerabilities my </a:t>
            </a:r>
            <a:r>
              <a:rPr lang="en-US" sz="3000" b="true">
                <a:solidFill>
                  <a:srgbClr val="303870"/>
                </a:solidFill>
                <a:latin typeface="Nunito Bold"/>
                <a:ea typeface="Nunito Bold"/>
                <a:cs typeface="Nunito Bold"/>
                <a:sym typeface="Nunito Bold"/>
              </a:rPr>
              <a:t>Web Application Programming Project</a:t>
            </a:r>
            <a:r>
              <a:rPr lang="en-US" sz="3000">
                <a:solidFill>
                  <a:srgbClr val="303870"/>
                </a:solidFill>
                <a:latin typeface="Nunito"/>
                <a:ea typeface="Nunito"/>
                <a:cs typeface="Nunito"/>
                <a:sym typeface="Nunito"/>
              </a:rPr>
              <a:t> was chosen: </a:t>
            </a:r>
            <a:r>
              <a:rPr lang="en-US" sz="3000" u="sng">
                <a:solidFill>
                  <a:srgbClr val="303870"/>
                </a:solidFill>
                <a:latin typeface="Nunito"/>
                <a:ea typeface="Nunito"/>
                <a:cs typeface="Nunito"/>
                <a:sym typeface="Nunito"/>
                <a:hlinkClick r:id="rId3" tooltip="https://github.com/PasqualiniGabriele/WebApplicationProgramming-Project"/>
              </a:rPr>
              <a:t>https://github.com/PasqualiniGabriele/WebApplicationProgramming-Project</a:t>
            </a:r>
            <a:r>
              <a:rPr lang="en-US" sz="3000">
                <a:solidFill>
                  <a:srgbClr val="303870"/>
                </a:solidFill>
                <a:latin typeface="Nunito"/>
                <a:ea typeface="Nunito"/>
                <a:cs typeface="Nunito"/>
                <a:sym typeface="Nunito"/>
              </a:rPr>
              <a:t>.</a:t>
            </a:r>
          </a:p>
          <a:p>
            <a:pPr algn="l">
              <a:lnSpc>
                <a:spcPts val="5280"/>
              </a:lnSpc>
            </a:pPr>
            <a:r>
              <a:rPr lang="en-US" sz="3000">
                <a:solidFill>
                  <a:srgbClr val="303870"/>
                </a:solidFill>
                <a:latin typeface="Nunito"/>
                <a:ea typeface="Nunito"/>
                <a:cs typeface="Nunito"/>
                <a:sym typeface="Nunito"/>
              </a:rPr>
              <a:t>It is a website for sport fields booking and for tournament organization.</a:t>
            </a:r>
          </a:p>
        </p:txBody>
      </p:sp>
      <p:sp>
        <p:nvSpPr>
          <p:cNvPr name="TextBox 8" id="8"/>
          <p:cNvSpPr txBox="true"/>
          <p:nvPr/>
        </p:nvSpPr>
        <p:spPr>
          <a:xfrm rot="0">
            <a:off x="519834" y="344805"/>
            <a:ext cx="8142442" cy="1215390"/>
          </a:xfrm>
          <a:prstGeom prst="rect">
            <a:avLst/>
          </a:prstGeom>
        </p:spPr>
        <p:txBody>
          <a:bodyPr anchor="t" rtlCol="false" tIns="0" lIns="0" bIns="0" rIns="0">
            <a:spAutoFit/>
          </a:bodyPr>
          <a:lstStyle/>
          <a:p>
            <a:pPr algn="l">
              <a:lnSpc>
                <a:spcPts val="7979"/>
              </a:lnSpc>
            </a:pPr>
            <a:r>
              <a:rPr lang="en-US" sz="6999" b="true">
                <a:solidFill>
                  <a:srgbClr val="303870"/>
                </a:solidFill>
                <a:latin typeface="Agrandir Wide Bold"/>
                <a:ea typeface="Agrandir Wide Bold"/>
                <a:cs typeface="Agrandir Wide Bold"/>
                <a:sym typeface="Agrandir Wide Bold"/>
              </a:rPr>
              <a:t>Case 2</a:t>
            </a:r>
          </a:p>
        </p:txBody>
      </p:sp>
      <p:sp>
        <p:nvSpPr>
          <p:cNvPr name="TextBox 9" id="9"/>
          <p:cNvSpPr txBox="true"/>
          <p:nvPr/>
        </p:nvSpPr>
        <p:spPr>
          <a:xfrm rot="0">
            <a:off x="12854249" y="5681866"/>
            <a:ext cx="4268212" cy="3272790"/>
          </a:xfrm>
          <a:prstGeom prst="rect">
            <a:avLst/>
          </a:prstGeom>
        </p:spPr>
        <p:txBody>
          <a:bodyPr anchor="t" rtlCol="false" tIns="0" lIns="0" bIns="0" rIns="0">
            <a:spAutoFit/>
          </a:bodyPr>
          <a:lstStyle/>
          <a:p>
            <a:pPr algn="l">
              <a:lnSpc>
                <a:spcPts val="5280"/>
              </a:lnSpc>
            </a:pPr>
            <a:r>
              <a:rPr lang="en-US" sz="3000">
                <a:solidFill>
                  <a:srgbClr val="303870"/>
                </a:solidFill>
                <a:latin typeface="Nunito"/>
                <a:ea typeface="Nunito"/>
                <a:cs typeface="Nunito"/>
                <a:sym typeface="Nunito"/>
              </a:rPr>
              <a:t>All 3 vulnerabilities found with “</a:t>
            </a:r>
            <a:r>
              <a:rPr lang="en-US" sz="3000" b="true">
                <a:solidFill>
                  <a:srgbClr val="303870"/>
                </a:solidFill>
                <a:latin typeface="Nunito Bold"/>
                <a:ea typeface="Nunito Bold"/>
                <a:cs typeface="Nunito Bold"/>
                <a:sym typeface="Nunito Bold"/>
              </a:rPr>
              <a:t>Blocker</a:t>
            </a:r>
            <a:r>
              <a:rPr lang="en-US" sz="3000">
                <a:solidFill>
                  <a:srgbClr val="303870"/>
                </a:solidFill>
                <a:latin typeface="Nunito"/>
                <a:ea typeface="Nunito"/>
                <a:cs typeface="Nunito"/>
                <a:sym typeface="Nunito"/>
              </a:rPr>
              <a:t>” severity  are associated with </a:t>
            </a:r>
            <a:r>
              <a:rPr lang="en-US" sz="3000" b="true">
                <a:solidFill>
                  <a:srgbClr val="303870"/>
                </a:solidFill>
                <a:latin typeface="Nunito Bold"/>
                <a:ea typeface="Nunito Bold"/>
                <a:cs typeface="Nunito Bold"/>
                <a:sym typeface="Nunito Bold"/>
              </a:rPr>
              <a:t>user input validation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EDE2"/>
        </a:solidFill>
      </p:bgPr>
    </p:bg>
    <p:spTree>
      <p:nvGrpSpPr>
        <p:cNvPr id="1" name=""/>
        <p:cNvGrpSpPr/>
        <p:nvPr/>
      </p:nvGrpSpPr>
      <p:grpSpPr>
        <a:xfrm>
          <a:off x="0" y="0"/>
          <a:ext cx="0" cy="0"/>
          <a:chOff x="0" y="0"/>
          <a:chExt cx="0" cy="0"/>
        </a:xfrm>
      </p:grpSpPr>
      <p:grpSp>
        <p:nvGrpSpPr>
          <p:cNvPr name="Group 2" id="2"/>
          <p:cNvGrpSpPr/>
          <p:nvPr/>
        </p:nvGrpSpPr>
        <p:grpSpPr>
          <a:xfrm rot="0">
            <a:off x="17259300"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name="TextBox 4" id="4"/>
            <p:cNvSpPr txBox="true"/>
            <p:nvPr/>
          </p:nvSpPr>
          <p:spPr>
            <a:xfrm>
              <a:off x="0" y="-95250"/>
              <a:ext cx="812800" cy="2804583"/>
            </a:xfrm>
            <a:prstGeom prst="rect">
              <a:avLst/>
            </a:prstGeom>
          </p:spPr>
          <p:txBody>
            <a:bodyPr anchor="ctr" rtlCol="false" tIns="50800" lIns="50800" bIns="50800" rIns="50800"/>
            <a:lstStyle/>
            <a:p>
              <a:pPr algn="ctr">
                <a:lnSpc>
                  <a:spcPts val="3287"/>
                </a:lnSpc>
              </a:pPr>
            </a:p>
          </p:txBody>
        </p:sp>
      </p:grpSp>
      <p:sp>
        <p:nvSpPr>
          <p:cNvPr name="Freeform 5" id="5"/>
          <p:cNvSpPr/>
          <p:nvPr/>
        </p:nvSpPr>
        <p:spPr>
          <a:xfrm flipH="false" flipV="false" rot="0">
            <a:off x="423938" y="1560195"/>
            <a:ext cx="16503631" cy="2704233"/>
          </a:xfrm>
          <a:custGeom>
            <a:avLst/>
            <a:gdLst/>
            <a:ahLst/>
            <a:cxnLst/>
            <a:rect r="r" b="b" t="t" l="l"/>
            <a:pathLst>
              <a:path h="2704233" w="16503631">
                <a:moveTo>
                  <a:pt x="0" y="0"/>
                </a:moveTo>
                <a:lnTo>
                  <a:pt x="16503631" y="0"/>
                </a:lnTo>
                <a:lnTo>
                  <a:pt x="16503631" y="2704233"/>
                </a:lnTo>
                <a:lnTo>
                  <a:pt x="0" y="2704233"/>
                </a:lnTo>
                <a:lnTo>
                  <a:pt x="0" y="0"/>
                </a:lnTo>
                <a:close/>
              </a:path>
            </a:pathLst>
          </a:custGeom>
          <a:blipFill>
            <a:blip r:embed="rId2"/>
            <a:stretch>
              <a:fillRect l="-166" t="-860" r="0" b="-184985"/>
            </a:stretch>
          </a:blipFill>
        </p:spPr>
      </p:sp>
      <p:sp>
        <p:nvSpPr>
          <p:cNvPr name="Freeform 6" id="6"/>
          <p:cNvSpPr/>
          <p:nvPr/>
        </p:nvSpPr>
        <p:spPr>
          <a:xfrm flipH="false" flipV="false" rot="0">
            <a:off x="423938" y="5092144"/>
            <a:ext cx="8447514" cy="2511004"/>
          </a:xfrm>
          <a:custGeom>
            <a:avLst/>
            <a:gdLst/>
            <a:ahLst/>
            <a:cxnLst/>
            <a:rect r="r" b="b" t="t" l="l"/>
            <a:pathLst>
              <a:path h="2511004" w="8447514">
                <a:moveTo>
                  <a:pt x="0" y="0"/>
                </a:moveTo>
                <a:lnTo>
                  <a:pt x="8447514" y="0"/>
                </a:lnTo>
                <a:lnTo>
                  <a:pt x="8447514" y="2511004"/>
                </a:lnTo>
                <a:lnTo>
                  <a:pt x="0" y="2511004"/>
                </a:lnTo>
                <a:lnTo>
                  <a:pt x="0" y="0"/>
                </a:lnTo>
                <a:close/>
              </a:path>
            </a:pathLst>
          </a:custGeom>
          <a:blipFill>
            <a:blip r:embed="rId3"/>
            <a:stretch>
              <a:fillRect l="0" t="0" r="0" b="0"/>
            </a:stretch>
          </a:blipFill>
        </p:spPr>
      </p:sp>
      <p:sp>
        <p:nvSpPr>
          <p:cNvPr name="TextBox 7" id="7"/>
          <p:cNvSpPr txBox="true"/>
          <p:nvPr/>
        </p:nvSpPr>
        <p:spPr>
          <a:xfrm rot="0">
            <a:off x="860003" y="344805"/>
            <a:ext cx="12345016" cy="1215390"/>
          </a:xfrm>
          <a:prstGeom prst="rect">
            <a:avLst/>
          </a:prstGeom>
        </p:spPr>
        <p:txBody>
          <a:bodyPr anchor="t" rtlCol="false" tIns="0" lIns="0" bIns="0" rIns="0">
            <a:spAutoFit/>
          </a:bodyPr>
          <a:lstStyle/>
          <a:p>
            <a:pPr algn="l">
              <a:lnSpc>
                <a:spcPts val="7979"/>
              </a:lnSpc>
            </a:pPr>
            <a:r>
              <a:rPr lang="en-US" sz="6999" b="true">
                <a:solidFill>
                  <a:srgbClr val="303870"/>
                </a:solidFill>
                <a:latin typeface="Agrandir Wide Bold"/>
                <a:ea typeface="Agrandir Wide Bold"/>
                <a:cs typeface="Agrandir Wide Bold"/>
                <a:sym typeface="Agrandir Wide Bold"/>
              </a:rPr>
              <a:t>Case 2.1: Code </a:t>
            </a:r>
          </a:p>
        </p:txBody>
      </p:sp>
      <p:sp>
        <p:nvSpPr>
          <p:cNvPr name="TextBox 8" id="8"/>
          <p:cNvSpPr txBox="true"/>
          <p:nvPr/>
        </p:nvSpPr>
        <p:spPr>
          <a:xfrm rot="0">
            <a:off x="331661" y="4305379"/>
            <a:ext cx="9199126" cy="786765"/>
          </a:xfrm>
          <a:prstGeom prst="rect">
            <a:avLst/>
          </a:prstGeom>
        </p:spPr>
        <p:txBody>
          <a:bodyPr anchor="t" rtlCol="false" tIns="0" lIns="0" bIns="0" rIns="0">
            <a:spAutoFit/>
          </a:bodyPr>
          <a:lstStyle/>
          <a:p>
            <a:pPr algn="l">
              <a:lnSpc>
                <a:spcPts val="5130"/>
              </a:lnSpc>
            </a:pPr>
            <a:r>
              <a:rPr lang="en-US" sz="4500" b="true">
                <a:solidFill>
                  <a:srgbClr val="303870"/>
                </a:solidFill>
                <a:latin typeface="Agrandir Wide Bold"/>
                <a:ea typeface="Agrandir Wide Bold"/>
                <a:cs typeface="Agrandir Wide Bold"/>
                <a:sym typeface="Agrandir Wide Bold"/>
              </a:rPr>
              <a:t>Responsible code:</a:t>
            </a:r>
          </a:p>
        </p:txBody>
      </p:sp>
      <p:sp>
        <p:nvSpPr>
          <p:cNvPr name="TextBox 9" id="9"/>
          <p:cNvSpPr txBox="true"/>
          <p:nvPr/>
        </p:nvSpPr>
        <p:spPr>
          <a:xfrm rot="0">
            <a:off x="9313234" y="4635051"/>
            <a:ext cx="7783569" cy="3272790"/>
          </a:xfrm>
          <a:prstGeom prst="rect">
            <a:avLst/>
          </a:prstGeom>
        </p:spPr>
        <p:txBody>
          <a:bodyPr anchor="t" rtlCol="false" tIns="0" lIns="0" bIns="0" rIns="0">
            <a:spAutoFit/>
          </a:bodyPr>
          <a:lstStyle/>
          <a:p>
            <a:pPr algn="l">
              <a:lnSpc>
                <a:spcPts val="5280"/>
              </a:lnSpc>
            </a:pPr>
            <a:r>
              <a:rPr lang="en-US" sz="3000">
                <a:solidFill>
                  <a:srgbClr val="303870"/>
                </a:solidFill>
                <a:latin typeface="Nunito"/>
                <a:ea typeface="Nunito"/>
                <a:cs typeface="Nunito"/>
                <a:sym typeface="Nunito"/>
              </a:rPr>
              <a:t>This can lead to a NoSQL Injection vulnerability if an attacker sends a crafted object instead of a normal string, for example using MongoDB operators such as $ne or $gt.</a:t>
            </a:r>
          </a:p>
        </p:txBody>
      </p:sp>
      <p:sp>
        <p:nvSpPr>
          <p:cNvPr name="TextBox 10" id="10"/>
          <p:cNvSpPr txBox="true"/>
          <p:nvPr/>
        </p:nvSpPr>
        <p:spPr>
          <a:xfrm rot="0">
            <a:off x="331661" y="7641248"/>
            <a:ext cx="9199126" cy="786765"/>
          </a:xfrm>
          <a:prstGeom prst="rect">
            <a:avLst/>
          </a:prstGeom>
        </p:spPr>
        <p:txBody>
          <a:bodyPr anchor="t" rtlCol="false" tIns="0" lIns="0" bIns="0" rIns="0">
            <a:spAutoFit/>
          </a:bodyPr>
          <a:lstStyle/>
          <a:p>
            <a:pPr algn="l">
              <a:lnSpc>
                <a:spcPts val="5130"/>
              </a:lnSpc>
            </a:pPr>
            <a:r>
              <a:rPr lang="en-US" sz="4500" b="true">
                <a:solidFill>
                  <a:srgbClr val="303870"/>
                </a:solidFill>
                <a:latin typeface="Agrandir Wide Bold"/>
                <a:ea typeface="Agrandir Wide Bold"/>
                <a:cs typeface="Agrandir Wide Bold"/>
                <a:sym typeface="Agrandir Wide Bold"/>
              </a:rPr>
              <a:t>Solution:</a:t>
            </a:r>
          </a:p>
        </p:txBody>
      </p:sp>
      <p:sp>
        <p:nvSpPr>
          <p:cNvPr name="TextBox 11" id="11"/>
          <p:cNvSpPr txBox="true"/>
          <p:nvPr/>
        </p:nvSpPr>
        <p:spPr>
          <a:xfrm rot="0">
            <a:off x="331661" y="8275613"/>
            <a:ext cx="16407968" cy="1939290"/>
          </a:xfrm>
          <a:prstGeom prst="rect">
            <a:avLst/>
          </a:prstGeom>
        </p:spPr>
        <p:txBody>
          <a:bodyPr anchor="t" rtlCol="false" tIns="0" lIns="0" bIns="0" rIns="0">
            <a:spAutoFit/>
          </a:bodyPr>
          <a:lstStyle/>
          <a:p>
            <a:pPr algn="l">
              <a:lnSpc>
                <a:spcPts val="5280"/>
              </a:lnSpc>
            </a:pPr>
            <a:r>
              <a:rPr lang="en-US" sz="3000">
                <a:solidFill>
                  <a:srgbClr val="303870"/>
                </a:solidFill>
                <a:latin typeface="Nunito"/>
                <a:ea typeface="Nunito"/>
                <a:cs typeface="Nunito"/>
                <a:sym typeface="Nunito"/>
              </a:rPr>
              <a:t>The vulnerability was mitigated by validating and sanitizing user input before executing the database query, ensuring that username and password are treated only as strings and rejecting invalid or malformed data to prevent NoSQL injection attacks.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EDE2"/>
        </a:solidFill>
      </p:bgPr>
    </p:bg>
    <p:spTree>
      <p:nvGrpSpPr>
        <p:cNvPr id="1" name=""/>
        <p:cNvGrpSpPr/>
        <p:nvPr/>
      </p:nvGrpSpPr>
      <p:grpSpPr>
        <a:xfrm>
          <a:off x="0" y="0"/>
          <a:ext cx="0" cy="0"/>
          <a:chOff x="0" y="0"/>
          <a:chExt cx="0" cy="0"/>
        </a:xfrm>
      </p:grpSpPr>
      <p:grpSp>
        <p:nvGrpSpPr>
          <p:cNvPr name="Group 2" id="2"/>
          <p:cNvGrpSpPr/>
          <p:nvPr/>
        </p:nvGrpSpPr>
        <p:grpSpPr>
          <a:xfrm rot="0">
            <a:off x="17259300"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name="TextBox 4" id="4"/>
            <p:cNvSpPr txBox="true"/>
            <p:nvPr/>
          </p:nvSpPr>
          <p:spPr>
            <a:xfrm>
              <a:off x="0" y="-95250"/>
              <a:ext cx="812800" cy="2804583"/>
            </a:xfrm>
            <a:prstGeom prst="rect">
              <a:avLst/>
            </a:prstGeom>
          </p:spPr>
          <p:txBody>
            <a:bodyPr anchor="ctr" rtlCol="false" tIns="50800" lIns="50800" bIns="50800" rIns="50800"/>
            <a:lstStyle/>
            <a:p>
              <a:pPr algn="ctr">
                <a:lnSpc>
                  <a:spcPts val="3287"/>
                </a:lnSpc>
              </a:pPr>
            </a:p>
          </p:txBody>
        </p:sp>
      </p:grpSp>
      <p:sp>
        <p:nvSpPr>
          <p:cNvPr name="Freeform 5" id="5"/>
          <p:cNvSpPr/>
          <p:nvPr/>
        </p:nvSpPr>
        <p:spPr>
          <a:xfrm flipH="false" flipV="false" rot="0">
            <a:off x="430001" y="3423921"/>
            <a:ext cx="9729927" cy="2725124"/>
          </a:xfrm>
          <a:custGeom>
            <a:avLst/>
            <a:gdLst/>
            <a:ahLst/>
            <a:cxnLst/>
            <a:rect r="r" b="b" t="t" l="l"/>
            <a:pathLst>
              <a:path h="2725124" w="9729927">
                <a:moveTo>
                  <a:pt x="0" y="0"/>
                </a:moveTo>
                <a:lnTo>
                  <a:pt x="9729927" y="0"/>
                </a:lnTo>
                <a:lnTo>
                  <a:pt x="9729927" y="2725124"/>
                </a:lnTo>
                <a:lnTo>
                  <a:pt x="0" y="2725124"/>
                </a:lnTo>
                <a:lnTo>
                  <a:pt x="0" y="0"/>
                </a:lnTo>
                <a:close/>
              </a:path>
            </a:pathLst>
          </a:custGeom>
          <a:blipFill>
            <a:blip r:embed="rId2"/>
            <a:stretch>
              <a:fillRect l="0" t="0" r="-11339" b="-4201"/>
            </a:stretch>
          </a:blipFill>
        </p:spPr>
      </p:sp>
      <p:sp>
        <p:nvSpPr>
          <p:cNvPr name="TextBox 6" id="6"/>
          <p:cNvSpPr txBox="true"/>
          <p:nvPr/>
        </p:nvSpPr>
        <p:spPr>
          <a:xfrm rot="0">
            <a:off x="860003" y="344805"/>
            <a:ext cx="17427997" cy="1215390"/>
          </a:xfrm>
          <a:prstGeom prst="rect">
            <a:avLst/>
          </a:prstGeom>
        </p:spPr>
        <p:txBody>
          <a:bodyPr anchor="t" rtlCol="false" tIns="0" lIns="0" bIns="0" rIns="0">
            <a:spAutoFit/>
          </a:bodyPr>
          <a:lstStyle/>
          <a:p>
            <a:pPr algn="l">
              <a:lnSpc>
                <a:spcPts val="7979"/>
              </a:lnSpc>
            </a:pPr>
            <a:r>
              <a:rPr lang="en-US" sz="6999" b="true">
                <a:solidFill>
                  <a:srgbClr val="303870"/>
                </a:solidFill>
                <a:latin typeface="Agrandir Wide Bold"/>
                <a:ea typeface="Agrandir Wide Bold"/>
                <a:cs typeface="Agrandir Wide Bold"/>
                <a:sym typeface="Agrandir Wide Bold"/>
              </a:rPr>
              <a:t>Case 2.2: Dependencies</a:t>
            </a:r>
          </a:p>
        </p:txBody>
      </p:sp>
      <p:sp>
        <p:nvSpPr>
          <p:cNvPr name="TextBox 7" id="7"/>
          <p:cNvSpPr txBox="true"/>
          <p:nvPr/>
        </p:nvSpPr>
        <p:spPr>
          <a:xfrm rot="0">
            <a:off x="430001" y="1900923"/>
            <a:ext cx="13387738" cy="786765"/>
          </a:xfrm>
          <a:prstGeom prst="rect">
            <a:avLst/>
          </a:prstGeom>
        </p:spPr>
        <p:txBody>
          <a:bodyPr anchor="t" rtlCol="false" tIns="0" lIns="0" bIns="0" rIns="0">
            <a:spAutoFit/>
          </a:bodyPr>
          <a:lstStyle/>
          <a:p>
            <a:pPr algn="l">
              <a:lnSpc>
                <a:spcPts val="5130"/>
              </a:lnSpc>
            </a:pPr>
            <a:r>
              <a:rPr lang="en-US" sz="4500" b="true">
                <a:solidFill>
                  <a:srgbClr val="303870"/>
                </a:solidFill>
                <a:latin typeface="Agrandir Wide Bold"/>
                <a:ea typeface="Agrandir Wide Bold"/>
                <a:cs typeface="Agrandir Wide Bold"/>
                <a:sym typeface="Agrandir Wide Bold"/>
              </a:rPr>
              <a:t>OWASP dependency-check tool output:</a:t>
            </a:r>
          </a:p>
        </p:txBody>
      </p:sp>
      <p:sp>
        <p:nvSpPr>
          <p:cNvPr name="TextBox 8" id="8"/>
          <p:cNvSpPr txBox="true"/>
          <p:nvPr/>
        </p:nvSpPr>
        <p:spPr>
          <a:xfrm rot="0">
            <a:off x="430001" y="6704303"/>
            <a:ext cx="16407968" cy="1494156"/>
          </a:xfrm>
          <a:prstGeom prst="rect">
            <a:avLst/>
          </a:prstGeom>
        </p:spPr>
        <p:txBody>
          <a:bodyPr anchor="t" rtlCol="false" tIns="0" lIns="0" bIns="0" rIns="0">
            <a:spAutoFit/>
          </a:bodyPr>
          <a:lstStyle/>
          <a:p>
            <a:pPr algn="l">
              <a:lnSpc>
                <a:spcPts val="6159"/>
              </a:lnSpc>
            </a:pPr>
            <a:r>
              <a:rPr lang="en-US" sz="3499">
                <a:solidFill>
                  <a:srgbClr val="303870"/>
                </a:solidFill>
                <a:latin typeface="Nunito"/>
                <a:ea typeface="Nunito"/>
                <a:cs typeface="Nunito"/>
                <a:sym typeface="Nunito"/>
              </a:rPr>
              <a:t>The analysis of the dependencies highlighted multiple outdated libraries, and for each of those it is sufficient to perform an update.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DAHOV6IM1gU</dc:identifier>
  <dcterms:modified xsi:type="dcterms:W3CDTF">2011-08-01T06:04:30Z</dcterms:modified>
  <cp:revision>1</cp:revision>
  <dc:title>06_SAST</dc:title>
</cp:coreProperties>
</file>